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45B0F7-ADF5-4E63-97CC-9ABD8FE567BE}">
  <a:tblStyle styleId="{5145B0F7-ADF5-4E63-97CC-9ABD8FE567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Diapositive de titre. Présenter le contexte du projet final EMI 2026 et l'objectif de l'application.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Présenter le plan en 6 sections. Insister sur la cohérence entre théorie, implémentation et application terrain.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Expliquer le contexte marocain : 52% EnR d'ici 2030, les 4 grands projets du sud. La problématique justifie l'application des 9 algorithmes.</a:t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Expliquer les 3 couches de l'application. L'interface Tkinter, le moteur des 9 algorithmes et le générateur de graphes avec données marocaines réelles.</a:t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Montrer comment les graphes sont générés dynamiquement avec les vrais noms de sites marocains. Le réseau est reconstruit à chaque clic.</a:t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Panorama des 5 algorithmes de graphes. Chacun répond à une problématique précise du réseau électrique marocain.</a:t>
            </a:r>
            <a:endParaRPr/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Welsh-Powell 1967. Heuristique de coloration. L'application colorie les sommets en temps réel et affiche la légende des canaux.</a:t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Deux algorithmes fondamentaux présentés côte à côte. Kruskal pour la conception réseau, Dijkstra pour la dispatch en temps réel.</a:t>
            </a:r>
            <a:endParaRPr/>
          </a:p>
        </p:txBody>
      </p:sp>
      <p:sp>
        <p:nvSpPr>
          <p:cNvPr id="286" name="Google Shape;2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Bellman-Ford pour les marchés d'électricité transfrontaliers. Ford-Fulkerson pour identifier les goulots d'étranglement du réseau.</a:t>
            </a:r>
            <a:endParaRPr/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trois méthodes sont implémentées et comparées visuellement. L'application affiche les tableaux côte à côte avec les allocations en vert.</a:t>
            </a:r>
            <a:endParaRPr/>
          </a:p>
        </p:txBody>
      </p:sp>
      <p:sp>
        <p:nvSpPr>
          <p:cNvPr id="322" name="Google Shape;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 Simplexe est implémenté from scratch (tableau, test du ratio, pivot). L'application génère aléatoirement les paramètres et affiche région faisable + solution optimale.</a:t>
            </a:r>
            <a:endParaRPr/>
          </a:p>
        </p:txBody>
      </p:sp>
      <p:sp>
        <p:nvSpPr>
          <p:cNvPr id="354" name="Google Shape;3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Décrire le flux de navigation. Insister sur la réactivité : chaque paramètre modifié régénère immédiatement le graphe et relance l'algorithme.</a:t>
            </a:r>
            <a:endParaRPr/>
          </a:p>
        </p:txBody>
      </p:sp>
      <p:sp>
        <p:nvSpPr>
          <p:cNvPr id="391" name="Google Shape;3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29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828800" y="21945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Mohammadia School of Engineers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828800" y="5029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4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2E4E"/>
                </a:solidFill>
                <a:latin typeface="Calibri"/>
                <a:ea typeface="Calibri"/>
                <a:cs typeface="Calibri"/>
                <a:sym typeface="Calibri"/>
              </a:rPr>
              <a:t>Rabat, Morocco  ·  2025–2026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1143000"/>
            <a:ext cx="8138160" cy="2331720"/>
          </a:xfrm>
          <a:prstGeom prst="roundRect">
            <a:avLst>
              <a:gd fmla="val 3922" name="adj"/>
            </a:avLst>
          </a:prstGeom>
          <a:solidFill>
            <a:srgbClr val="0D1B3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Desktop Application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 Operations Research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Applied to the Solar-Wind Hybrid Network — Southern Morocco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Graph Algorithms · Transportation Problem · Simplex Method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3703320"/>
            <a:ext cx="2560320" cy="822960"/>
          </a:xfrm>
          <a:prstGeom prst="roundRect">
            <a:avLst>
              <a:gd fmla="val 8889" name="adj"/>
            </a:avLst>
          </a:prstGeom>
          <a:solidFill>
            <a:srgbClr val="0D1B35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57200" y="37490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40233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Fadlaoui Abd-essamade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200400" y="3703320"/>
            <a:ext cx="2560320" cy="822960"/>
          </a:xfrm>
          <a:prstGeom prst="roundRect">
            <a:avLst>
              <a:gd fmla="val 8889" name="adj"/>
            </a:avLst>
          </a:prstGeom>
          <a:solidFill>
            <a:srgbClr val="0D1B35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291840" y="37490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291840" y="40233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EL MKHALET MOUNA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035040" y="3703320"/>
            <a:ext cx="2560320" cy="822960"/>
          </a:xfrm>
          <a:prstGeom prst="roundRect">
            <a:avLst>
              <a:gd fmla="val 8889" name="adj"/>
            </a:avLst>
          </a:prstGeom>
          <a:solidFill>
            <a:srgbClr val="0D1B35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126480" y="37490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Field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126480" y="40233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Electrical Engineering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title="EM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75" y="32000"/>
            <a:ext cx="1597537" cy="9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Presentation Outline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Overview of the sections 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105156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29768" y="1143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11480" y="112471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152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069848" y="112471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 &amp; Problem Statement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9848" y="143560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Southern Morocco hybrid network, MASEN projects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09160" y="105156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818888" y="1143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00600" y="112471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152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458968" y="112471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Architecture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58968" y="143560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Python / Tkinter structure, navigation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" y="214884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29768" y="22402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11480" y="22219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152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069848" y="22219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Algorithms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69848" y="25328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Welsh-Powell, Kruskal, Dijkstra, Bellman-Ford, Ford-Fulkerson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09160" y="214884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818888" y="22402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00600" y="22219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152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458968" y="22219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Transportation Problem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58968" y="25328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Northwest Corner, Least Cost, Potential-MODI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20040" y="324612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29768" y="33375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11480" y="331927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152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069848" y="33192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Simplex Method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69848" y="36301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Solar/wind mix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709160" y="3246120"/>
            <a:ext cx="4160520" cy="960120"/>
          </a:xfrm>
          <a:prstGeom prst="roundRect">
            <a:avLst>
              <a:gd fmla="val 7619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818888" y="33375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00600" y="331927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1525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458968" y="33192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Impact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58968" y="36301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Quantified gains, Moroccan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01 · Context &amp; Problem Statement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Moroccan energy transition — Southern Morocco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20040" y="10058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Morocco targets </a:t>
            </a: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52% renewable energy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by 2030, with a major energy corridor in the southern regions.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" y="1691640"/>
            <a:ext cx="4846320" cy="658368"/>
          </a:xfrm>
          <a:prstGeom prst="roundRect">
            <a:avLst>
              <a:gd fmla="val 11111" name="adj"/>
            </a:avLst>
          </a:prstGeom>
          <a:solidFill>
            <a:srgbClr val="2A1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75488" y="17465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Noor Ouarzazate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75488" y="203911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CSP + PV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154680" y="1828800"/>
            <a:ext cx="1737360" cy="347472"/>
          </a:xfrm>
          <a:prstGeom prst="roundRect">
            <a:avLst>
              <a:gd fmla="val 1578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154680" y="18288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580 MW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040" y="2441448"/>
            <a:ext cx="4846320" cy="658368"/>
          </a:xfrm>
          <a:prstGeom prst="roundRect">
            <a:avLst>
              <a:gd fmla="val 11111" name="adj"/>
            </a:avLst>
          </a:prstGeom>
          <a:solidFill>
            <a:srgbClr val="0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75488" y="24963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Tarfaya Wind Farm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75488" y="2788920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Onshore 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154680" y="2578608"/>
            <a:ext cx="1737360" cy="347472"/>
          </a:xfrm>
          <a:prstGeom prst="roundRect">
            <a:avLst>
              <a:gd fmla="val 1578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154680" y="257860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300 MW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20040" y="3191256"/>
            <a:ext cx="4846320" cy="658368"/>
          </a:xfrm>
          <a:prstGeom prst="roundRect">
            <a:avLst>
              <a:gd fmla="val 11111" name="adj"/>
            </a:avLst>
          </a:prstGeom>
          <a:solidFill>
            <a:srgbClr val="0A2A1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75488" y="32461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Midelt Hybride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5488" y="353872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PV + CSP + BESS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154680" y="3328416"/>
            <a:ext cx="1737360" cy="347472"/>
          </a:xfrm>
          <a:prstGeom prst="roundRect">
            <a:avLst>
              <a:gd fmla="val 1578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154680" y="332841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800 MW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20040" y="3941064"/>
            <a:ext cx="4846320" cy="658368"/>
          </a:xfrm>
          <a:prstGeom prst="roundRect">
            <a:avLst>
              <a:gd fmla="val 11111" name="adj"/>
            </a:avLst>
          </a:prstGeom>
          <a:solidFill>
            <a:srgbClr val="1A0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75488" y="39959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Dakhla Offshore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5488" y="4288536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Offshore 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154680" y="4078224"/>
            <a:ext cx="1737360" cy="347472"/>
          </a:xfrm>
          <a:prstGeom prst="roundRect">
            <a:avLst>
              <a:gd fmla="val 1578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154680" y="407822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&gt; 1 GW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40680" y="9601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Challenges to address: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349240" y="1371600"/>
            <a:ext cx="3429000" cy="585216"/>
          </a:xfrm>
          <a:prstGeom prst="roundRect">
            <a:avLst>
              <a:gd fmla="val 12500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112" y="14630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897880" y="14630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Minimum-cost HV backbone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349240" y="2066544"/>
            <a:ext cx="3429000" cy="585216"/>
          </a:xfrm>
          <a:prstGeom prst="roundRect">
            <a:avLst>
              <a:gd fmla="val 12500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112" y="21579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5897880" y="2157984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Optimal routing in case of line fault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349240" y="2761488"/>
            <a:ext cx="3429000" cy="585216"/>
          </a:xfrm>
          <a:prstGeom prst="roundRect">
            <a:avLst>
              <a:gd fmla="val 12500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112" y="28529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5897880" y="285292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Maximum export capacity to the north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349240" y="3456432"/>
            <a:ext cx="3429000" cy="585216"/>
          </a:xfrm>
          <a:prstGeom prst="roundRect">
            <a:avLst>
              <a:gd fmla="val 12500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8112" y="35478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5897880" y="354787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Optimal regional energy allocation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349240" y="4151376"/>
            <a:ext cx="3429000" cy="585216"/>
          </a:xfrm>
          <a:prstGeom prst="roundRect">
            <a:avLst>
              <a:gd fmla="val 12500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68112" y="42428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5897880" y="4242816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Solar/wind mix optimized by LP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02 · Application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Python · Tkinter · Matplotlib · NetworkX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5760" y="960120"/>
            <a:ext cx="6217920" cy="868680"/>
          </a:xfrm>
          <a:prstGeom prst="roundRect">
            <a:avLst>
              <a:gd fmla="val 8421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48640" y="105156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User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1344168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Tkinter + Matplotlib Canvas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291840" y="1810512"/>
            <a:ext cx="0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65760" y="2103120"/>
            <a:ext cx="6217920" cy="1051560"/>
          </a:xfrm>
          <a:prstGeom prst="roundRect">
            <a:avLst>
              <a:gd fmla="val 6957" name="adj"/>
            </a:avLst>
          </a:prstGeom>
          <a:solidFill>
            <a:srgbClr val="0D2A1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48640" y="219456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Algorithmic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2487168"/>
            <a:ext cx="5852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Welsh-Powell · Kruskal · Dijkstra · Bellman-Ford · Ford-Fulkerson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 Corner · Least Cost · Potential-MODI · Simplexe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91840" y="3136392"/>
            <a:ext cx="0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65760" y="3291840"/>
            <a:ext cx="6217920" cy="868680"/>
          </a:xfrm>
          <a:prstGeom prst="roundRect">
            <a:avLst>
              <a:gd fmla="val 8421" name="adj"/>
            </a:avLst>
          </a:prstGeom>
          <a:solidFill>
            <a:srgbClr val="2A1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48640" y="338328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Graph Generator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3675888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Moroccan sites · Random weights · Configurable connectivity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858000" y="9326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766560" y="1325880"/>
            <a:ext cx="2011680" cy="566928"/>
          </a:xfrm>
          <a:prstGeom prst="roundRect">
            <a:avLst>
              <a:gd fmla="val 12903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876288" y="13807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876288" y="163677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Main language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766560" y="1984248"/>
            <a:ext cx="2011680" cy="566928"/>
          </a:xfrm>
          <a:prstGeom prst="roundRect">
            <a:avLst>
              <a:gd fmla="val 12903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876288" y="20391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Tkinter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876288" y="22951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Graphical interface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766560" y="2642616"/>
            <a:ext cx="2011680" cy="566928"/>
          </a:xfrm>
          <a:prstGeom prst="roundRect">
            <a:avLst>
              <a:gd fmla="val 12903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876288" y="26974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876288" y="2953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Graph 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766560" y="3300984"/>
            <a:ext cx="2011680" cy="566928"/>
          </a:xfrm>
          <a:prstGeom prst="roundRect">
            <a:avLst>
              <a:gd fmla="val 12903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876288" y="33558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NetworkX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876288" y="36118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Graph structures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766560" y="3959352"/>
            <a:ext cx="2011680" cy="566928"/>
          </a:xfrm>
          <a:prstGeom prst="roundRect">
            <a:avLst>
              <a:gd fmla="val 12903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876288" y="40142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876288" y="42702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Matrix LP computation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005840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02 · Interactive Graph Generation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Real Moroccan data · User parameters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0040" y="10058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Configurable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0040" y="1417320"/>
            <a:ext cx="4251960" cy="768096"/>
          </a:xfrm>
          <a:prstGeom prst="roundRect">
            <a:avLst>
              <a:gd fmla="val 9524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75488" y="14813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Number of vertices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75488" y="1764792"/>
            <a:ext cx="1051560" cy="237744"/>
          </a:xfrm>
          <a:prstGeom prst="roundRect">
            <a:avLst>
              <a:gd fmla="val 19231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75488" y="176479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à 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627632" y="1783080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Interactive slider, adjustable in real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20040" y="2331720"/>
            <a:ext cx="4251960" cy="768096"/>
          </a:xfrm>
          <a:prstGeom prst="roundRect">
            <a:avLst>
              <a:gd fmla="val 9524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75488" y="23957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density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5488" y="2679192"/>
            <a:ext cx="1051560" cy="237744"/>
          </a:xfrm>
          <a:prstGeom prst="roundRect">
            <a:avLst>
              <a:gd fmla="val 19231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75488" y="267919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10 % – 90 %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627632" y="2697480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Controls the number of generated edges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20040" y="3246120"/>
            <a:ext cx="4251960" cy="768096"/>
          </a:xfrm>
          <a:prstGeom prst="roundRect">
            <a:avLst>
              <a:gd fmla="val 9524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75488" y="33101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weights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75488" y="3593592"/>
            <a:ext cx="1051560" cy="237744"/>
          </a:xfrm>
          <a:prstGeom prst="roundRect">
            <a:avLst>
              <a:gd fmla="val 19231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75488" y="359359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– 800 km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627632" y="3611880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Inter-site distances (400 kV network)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Database — Moroccan Sites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754880" y="1417320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2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846320" y="147218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Noor Ouarzazate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858000" y="1417320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2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949440" y="147218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Tarfaya Wind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754880" y="1892808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2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846320" y="19476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Midelt Hybrid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858000" y="1892808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2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949440" y="19476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Laayoune Solar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754880" y="2368296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846320" y="24231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Dakhla Offshore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858000" y="2368296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949440" y="24231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Benguerir PV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754880" y="2843784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846320" y="28986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Casablanca Hub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858000" y="2843784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949440" y="28986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Rabat Substation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754880" y="3319272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846320" y="33741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Agadir 225kV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858000" y="3319272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949440" y="33741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Marrakech 400kV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754880" y="3794760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846320" y="384962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Guelmim Station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858000" y="3794760"/>
            <a:ext cx="1920240" cy="365760"/>
          </a:xfrm>
          <a:prstGeom prst="roundRect">
            <a:avLst>
              <a:gd fmla="val 20000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949440" y="384962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Errachidia PV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1005840"/>
            <a:ext cx="32004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03 · Graph Algorithms — Vue d'Ensemble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5 algorithms implemented and visualized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0040" y="1005840"/>
            <a:ext cx="8503920" cy="694944"/>
          </a:xfrm>
          <a:prstGeom prst="rect">
            <a:avLst/>
          </a:prstGeom>
          <a:solidFill>
            <a:srgbClr val="2A152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430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024128" y="1097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Welsh-Powell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024128" y="1399032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0F346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024128" y="13990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O(V²)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743200" y="1170432"/>
            <a:ext cx="5349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SCADA frequency channel coloring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183880" y="1188720"/>
            <a:ext cx="502920" cy="320040"/>
          </a:xfrm>
          <a:prstGeom prst="roundRect">
            <a:avLst>
              <a:gd fmla="val 14286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183880" y="118872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20040" y="1792224"/>
            <a:ext cx="8503920" cy="694944"/>
          </a:xfrm>
          <a:prstGeom prst="rect">
            <a:avLst/>
          </a:prstGeom>
          <a:solidFill>
            <a:srgbClr val="0A2A15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19293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1024128" y="188366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Kruskal MST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024128" y="2185416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0F346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024128" y="218541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O(E log 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743200" y="1956816"/>
            <a:ext cx="5349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Minimal HV backbone (km)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183880" y="1975104"/>
            <a:ext cx="502920" cy="320040"/>
          </a:xfrm>
          <a:prstGeom prst="roundRect">
            <a:avLst>
              <a:gd fmla="val 14286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8183880" y="197510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20040" y="2578608"/>
            <a:ext cx="8503920" cy="694944"/>
          </a:xfrm>
          <a:prstGeom prst="rect">
            <a:avLst/>
          </a:prstGeom>
          <a:solidFill>
            <a:srgbClr val="0A15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7157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1024128" y="26700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Dijkstra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024128" y="2971800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0F346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024128" y="29718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O((V+E)log 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743200" y="2743200"/>
            <a:ext cx="5349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Minimum-loss transit route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183880" y="2761488"/>
            <a:ext cx="502920" cy="320040"/>
          </a:xfrm>
          <a:prstGeom prst="roundRect">
            <a:avLst>
              <a:gd fmla="val 14286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8183880" y="276148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20040" y="3364992"/>
            <a:ext cx="8503920" cy="694944"/>
          </a:xfrm>
          <a:prstGeom prst="rect">
            <a:avLst/>
          </a:prstGeom>
          <a:solidFill>
            <a:srgbClr val="1A0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35021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1024128" y="34564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Bellman-Ford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024128" y="3758184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0F346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1024128" y="375818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O(V·E)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743200" y="3529584"/>
            <a:ext cx="5349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Negative weights, HVDC arbitrage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183880" y="3547872"/>
            <a:ext cx="502920" cy="320040"/>
          </a:xfrm>
          <a:prstGeom prst="roundRect">
            <a:avLst>
              <a:gd fmla="val 14286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8183880" y="354787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20040" y="4151376"/>
            <a:ext cx="8503920" cy="694944"/>
          </a:xfrm>
          <a:prstGeom prst="rect">
            <a:avLst/>
          </a:prstGeom>
          <a:solidFill>
            <a:srgbClr val="0A2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2885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1024128" y="424281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Ford-Fulkerson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024128" y="4544568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0F346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1024128" y="4544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O(V·E²)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2743200" y="4315968"/>
            <a:ext cx="5349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Max export capacity MW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8183880" y="4334256"/>
            <a:ext cx="502920" cy="320040"/>
          </a:xfrm>
          <a:prstGeom prst="roundRect">
            <a:avLst>
              <a:gd fmla="val 14286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8183880" y="433425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03a · Welsh-Powell — Graph Coloring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Interference-free frequency channel assignment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/>
          <p:nvPr/>
        </p:nvSpPr>
        <p:spPr>
          <a:xfrm>
            <a:off x="960120" y="96012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Algorithm principle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47472" y="1426464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142646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77240" y="1426464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Sort vertices by decreasing degree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7472" y="1901952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347472" y="19019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7240" y="190195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the first available color to the 1st vertex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47472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347472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77240" y="2377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Traverse the list: assign the same color to each non-adjacent already-colored vertex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47472" y="2852928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47472" y="28529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77240" y="285292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color if no assignment possible → repeat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47472" y="3328416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47472" y="332841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77240" y="332841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Terminate when all vertices are colored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577840" y="960120"/>
            <a:ext cx="3246120" cy="3931920"/>
          </a:xfrm>
          <a:prstGeom prst="roundRect">
            <a:avLst>
              <a:gd fmla="val 2254" name="adj"/>
            </a:avLst>
          </a:prstGeom>
          <a:solidFill>
            <a:srgbClr val="1A152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715000" y="105156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Morocco Application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715000" y="1417320"/>
            <a:ext cx="2971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Chaque couleur </a:t>
            </a: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= un canal fréquentiel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attribué à un lien SCADA.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sites adjacents ne peuvent pas partager le même canal →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zéro interférence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Sites concernés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Noor Ouarzazate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Tarfaya Wind Farm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Substations régionales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Centre de contrôle ONEE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715000" y="3200400"/>
            <a:ext cx="2926080" cy="502920"/>
          </a:xfrm>
          <a:prstGeom prst="roundRect">
            <a:avLst>
              <a:gd fmla="val 10909" name="adj"/>
            </a:avLst>
          </a:prstGeom>
          <a:solidFill>
            <a:srgbClr val="1A250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5806440" y="325526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χ(G) = </a:t>
            </a:r>
            <a:r>
              <a:rPr b="1" i="0" lang="en-US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 canaux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suffisants pour 12 sites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47472" y="45537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50"/>
              <a:buFont typeface="Courier New"/>
              <a:buNone/>
            </a:pPr>
            <a:r>
              <a:rPr b="0" i="1" lang="en-US" sz="95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  <a:t>Complexity: O(V²)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03b · Kruskal &amp; Dijkstra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Minimum Spanning Tree · Shortest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0" y="868680"/>
            <a:ext cx="4480560" cy="4251960"/>
          </a:xfrm>
          <a:prstGeom prst="rect">
            <a:avLst/>
          </a:prstGeom>
          <a:solidFill>
            <a:srgbClr val="0A180A"/>
          </a:solidFill>
          <a:ln cap="flat" cmpd="sng" w="9525">
            <a:solidFill>
              <a:srgbClr val="204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731520" y="9601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mbria"/>
                <a:ea typeface="Cambria"/>
                <a:cs typeface="Cambria"/>
                <a:sym typeface="Cambria"/>
              </a:rPr>
              <a:t>Kruskal — Minimum Spanning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28600" y="1389888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Sort edges by ascending weight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Union-Find: add if no cycle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Stop at |V|−1 selected edges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Morocco Application 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Conception backbone 400 kV minimal reliant Noor Ouarzazate (580 MW), Tarfaya (300 MW), Midelt, Laayoune.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Résultat : MST = 1 840 km · économie 23 % vs maillage complet · ≈ 1,2 Md MAD d'économie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28600" y="4773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ourier New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  <a:t>Complexity: O(E log 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663440" y="868680"/>
            <a:ext cx="4343400" cy="4251960"/>
          </a:xfrm>
          <a:prstGeom prst="rect">
            <a:avLst/>
          </a:prstGeom>
          <a:solidFill>
            <a:srgbClr val="0A0A25"/>
          </a:solidFill>
          <a:ln cap="flat" cmpd="sng" w="9525">
            <a:solidFill>
              <a:srgbClr val="2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5349240" y="960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3498DB"/>
                </a:solidFill>
                <a:latin typeface="Cambria"/>
                <a:ea typeface="Cambria"/>
                <a:cs typeface="Cambria"/>
                <a:sym typeface="Cambria"/>
              </a:rPr>
              <a:t>Dijkstra — Shortest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46320" y="1389888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dist[source] = 0, dist[others] = ∞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Priority queue → extract min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Neighbor relaxation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Path reconstruction via prev[]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Morocco Application 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minimale en pertes MW·km depuis Noor Ouarzazate vers toute sous-station.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Chemin optimal : Ouarzazate → Benguerir → Settat → Casablanca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846320" y="4773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ourier New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  <a:t>Complexity: O((V+E) log 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03c · Bellman-Ford &amp; Ford-Fulkerson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Negative Weights · Maximum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0" y="868680"/>
            <a:ext cx="4480560" cy="4251960"/>
          </a:xfrm>
          <a:prstGeom prst="rect">
            <a:avLst/>
          </a:prstGeom>
          <a:solidFill>
            <a:srgbClr val="1A0A25"/>
          </a:solidFill>
          <a:ln cap="flat" cmpd="sng" w="9525">
            <a:solidFill>
              <a:srgbClr val="4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731520" y="9601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B59B6"/>
                </a:solidFill>
                <a:latin typeface="Cambria"/>
                <a:ea typeface="Cambria"/>
                <a:cs typeface="Cambria"/>
                <a:sym typeface="Cambria"/>
              </a:rPr>
              <a:t>Bellman-Ford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228600" y="1389888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Relaxer toutes les arêtes |V|−1 fois. Détecter les cycles négatifs au passage final.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Avantage : </a:t>
            </a: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Gère les arêtes à poids négatifs (tarifs de transit subventionnés).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Morocco Application 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Valide l'absence de cycle d'arbitrage sur l'interconnexion HVDC Tarifa (Maroc-Espagne) et les échanges Maroc-Algérie.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✔ Réseau arbitrage-free détecté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228600" y="4773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ourier New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  <a:t>Complexity: O(V·E)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663440" y="868680"/>
            <a:ext cx="4343400" cy="4251960"/>
          </a:xfrm>
          <a:prstGeom prst="rect">
            <a:avLst/>
          </a:prstGeom>
          <a:solidFill>
            <a:srgbClr val="0A1E1A"/>
          </a:solidFill>
          <a:ln cap="flat" cmpd="sng" w="9525">
            <a:solidFill>
              <a:srgbClr val="2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5349240" y="960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ABC9C"/>
                </a:solidFill>
                <a:latin typeface="Cambria"/>
                <a:ea typeface="Cambria"/>
                <a:cs typeface="Cambria"/>
                <a:sym typeface="Cambria"/>
              </a:rPr>
              <a:t>Ford-Fulkerson — Maximum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846320" y="1389888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Initialize all flows to zero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BFS → find augmenting path s→t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θ = min residual capacity on path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Augment flow by θ, update residual graph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Repeat until no path exists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Morocco Application :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Capacité d'export maximale Noor + Tarfaya → ceinture industrielle Casablanca.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Flot max = 420 MW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Goulot : ligne Benguerir 400 kV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→ Priorité de renforcement ONEE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846320" y="4773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ourier New"/>
              <a:buNone/>
            </a:pPr>
            <a:r>
              <a:rPr b="0" i="1" lang="en-US" sz="90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  <a:t>Complexity: O(V·E²) BFS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04 · Transportation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Northwest Corner · Least Cost · Potential-MODI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320040" y="9875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Mathematical formulation: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320040" y="129844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Min Z = ΣΣ cᵢⱼ · xᵢⱼ    s.t.   Σⱼ xᵢⱼ = sᵢ (supply)   ;   Σᵢ xᵢⱼ = dⱼ (demand)   ;   xᵢⱼ ≥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20040" y="1664208"/>
            <a:ext cx="2788920" cy="3310128"/>
          </a:xfrm>
          <a:prstGeom prst="roundRect">
            <a:avLst>
              <a:gd fmla="val 2623" name="adj"/>
            </a:avLst>
          </a:prstGeom>
          <a:solidFill>
            <a:srgbClr val="1E2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11480" y="1737360"/>
            <a:ext cx="2560320" cy="329184"/>
          </a:xfrm>
          <a:prstGeom prst="roundRect">
            <a:avLst>
              <a:gd fmla="val 13889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11480" y="17373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Northwest Corner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29768" y="210312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O(m+n)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29768" y="2377440"/>
            <a:ext cx="257860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initiale rapide.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Alloue en priorité la cellule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haut-gauche (NW).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Ignore les coûts →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départ sous-optimal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valide.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11480" y="4114800"/>
            <a:ext cx="2560320" cy="685800"/>
          </a:xfrm>
          <a:prstGeom prst="roundRect">
            <a:avLst>
              <a:gd fmla="val 10667" name="adj"/>
            </a:avLst>
          </a:prstGeom>
          <a:solidFill>
            <a:srgbClr val="0A0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502920" y="41605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Initial cost: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8 700 MAD/MWh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264408" y="1664208"/>
            <a:ext cx="2788920" cy="3310128"/>
          </a:xfrm>
          <a:prstGeom prst="roundRect">
            <a:avLst>
              <a:gd fmla="val 2623" name="adj"/>
            </a:avLst>
          </a:prstGeom>
          <a:solidFill>
            <a:srgbClr val="1E1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355848" y="1737360"/>
            <a:ext cx="2560320" cy="329184"/>
          </a:xfrm>
          <a:prstGeom prst="roundRect">
            <a:avLst>
              <a:gd fmla="val 13889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3355848" y="17373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Least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3374136" y="210312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O(m·n·log(mn))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3374136" y="2377440"/>
            <a:ext cx="257860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Améliore NW en allouant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toujours à la cellule 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coût minimal disponible.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Meilleure BFS initiale,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réduit les itérations MODI.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3355848" y="4114800"/>
            <a:ext cx="2560320" cy="685800"/>
          </a:xfrm>
          <a:prstGeom prst="roundRect">
            <a:avLst>
              <a:gd fmla="val 10667" name="adj"/>
            </a:avLst>
          </a:prstGeom>
          <a:solidFill>
            <a:srgbClr val="0A0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3447288" y="41605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Initial cost: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6 900 MAD/MWh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(−21% vs NW)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208776" y="1664208"/>
            <a:ext cx="2788920" cy="3310128"/>
          </a:xfrm>
          <a:prstGeom prst="roundRect">
            <a:avLst>
              <a:gd fmla="val 2623" name="adj"/>
            </a:avLst>
          </a:prstGeom>
          <a:solidFill>
            <a:srgbClr val="1A0A1E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6300216" y="1737360"/>
            <a:ext cx="2560320" cy="329184"/>
          </a:xfrm>
          <a:prstGeom prst="roundRect">
            <a:avLst>
              <a:gd fmla="val 1388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6300216" y="17373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Potential-MODI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318504" y="210312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O(k·m·n) / pivot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318504" y="2377440"/>
            <a:ext cx="257860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Calcule uᵢ + vⱼ (potentiels).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Opportunité Δᵢⱼ = cᵢⱼ − uᵢ − vⱼ.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Pivote si Δᵢⱼ &lt; 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Termine si tous Δᵢⱼ ≥ 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Optimum global garanti.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300216" y="4114800"/>
            <a:ext cx="2560320" cy="685800"/>
          </a:xfrm>
          <a:prstGeom prst="roundRect">
            <a:avLst>
              <a:gd fmla="val 10667" name="adj"/>
            </a:avLst>
          </a:prstGeom>
          <a:solidFill>
            <a:srgbClr val="0A0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6391656" y="41605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Optimal cost: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6 400 MAD/MWh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(global optimum ✓)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320040" y="4919472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Context: Supply nodes = plants (Noor, Tarfaya, Midelt, Dakhla)   ·   Demand nodes = Casablanca, Rabat, Marrakech, Agadir, Fes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05 · Simplex Method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Solar/Wind Production Mix Optimization — Midelt Hybrid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320040" y="960120"/>
            <a:ext cx="5029200" cy="1417320"/>
          </a:xfrm>
          <a:prstGeom prst="roundRect">
            <a:avLst>
              <a:gd fmla="val 5161" name="adj"/>
            </a:avLst>
          </a:prstGeom>
          <a:solidFill>
            <a:srgbClr val="1A1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457200" y="10241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Linear optimization problem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57200" y="1325880"/>
            <a:ext cx="4709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Max  Z = 1.5·x₁ + 1.2·x₂   (M MAD/year)</a:t>
            </a:r>
            <a:br>
              <a:rPr b="1" i="0" lang="en-US" sz="9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  <a:t>s.c.</a:t>
            </a:r>
            <a:br>
              <a:rPr b="0" i="0" lang="en-US" sz="950" u="none" cap="none" strike="noStrike">
                <a:solidFill>
                  <a:srgbClr val="A0A0C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x₁ ≤ 350 MW  (solar land capacity)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x₂ ≤ 250 MW  (wind land capacity)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x₁ + x₂ ≤ 500 MW  (grid connection)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2.1·x₁ + 1.4·x₂ ≤ 900  (CAPEX budget)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x₁, x₂ ≥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20040" y="251460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Simplex Algorithm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347472" y="2889504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347472" y="28895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85800" y="289864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to standard form (add slack variables)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47472" y="324612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347472" y="32461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85800" y="325526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tableau: reduced costs = −cⱼ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47472" y="3602736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347472" y="36027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85800" y="361188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Entering variable: most negative reduced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347472" y="3959352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347472" y="39593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685800" y="3968496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Leaving variable: min ratio test (Bland's rule)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347472" y="4315968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85800" y="4325112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Pivot: Gauss-Jordan elimination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347472" y="4672584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347472" y="46725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85800" y="468172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 until all reduced costs ≥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577840" y="960120"/>
            <a:ext cx="3246120" cy="4224528"/>
          </a:xfrm>
          <a:prstGeom prst="roundRect">
            <a:avLst>
              <a:gd fmla="val 2254" name="adj"/>
            </a:avLst>
          </a:prstGeom>
          <a:solidFill>
            <a:srgbClr val="1A0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5715000" y="102412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Results &amp; 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5760720" y="2525573"/>
            <a:ext cx="1234440" cy="994867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5760720" y="35661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Solar x₁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7315200" y="2993746"/>
            <a:ext cx="1234440" cy="526694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7315200" y="35661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 x₂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5715000" y="3886200"/>
            <a:ext cx="29718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x₁ (Solar) = </a:t>
            </a: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320 MW</a:t>
            </a:r>
            <a:b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x₂ (Wind)  = </a:t>
            </a:r>
            <a:r>
              <a:rPr b="1" i="0" lang="en-US" sz="9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180 MW</a:t>
            </a:r>
            <a:br>
              <a:rPr b="1" i="0" lang="en-US" sz="9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9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Z* = </a:t>
            </a:r>
            <a: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14,2 M MAD/an</a:t>
            </a:r>
            <a:b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Complexité : O(m²·n) moy.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Optimum global garanti (région convexe)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Navigation &amp; Interface — Demo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User flow in the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228600" y="960120"/>
            <a:ext cx="1600200" cy="2194560"/>
          </a:xfrm>
          <a:prstGeom prst="roundRect">
            <a:avLst>
              <a:gd fmla="val 4571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777240" y="102412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77724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01752" y="15910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Screen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301752" y="20116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Génération du graphe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(curseur sommets + densité)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828800" y="1810512"/>
            <a:ext cx="128016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254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1965960" y="960120"/>
            <a:ext cx="1600200" cy="2194560"/>
          </a:xfrm>
          <a:prstGeom prst="roundRect">
            <a:avLst>
              <a:gd fmla="val 4571" name="adj"/>
            </a:avLst>
          </a:prstGeom>
          <a:solidFill>
            <a:srgbClr val="1A2A1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2514600" y="102412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251460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039112" y="15910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 Menu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2039112" y="20116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8 boutons de navigation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(Welsh-Powell → Simplexe)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3566160" y="1810512"/>
            <a:ext cx="128016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254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3703320" y="960120"/>
            <a:ext cx="1600200" cy="2194560"/>
          </a:xfrm>
          <a:prstGeom prst="roundRect">
            <a:avLst>
              <a:gd fmla="val 4571" name="adj"/>
            </a:avLst>
          </a:prstGeom>
          <a:solidFill>
            <a:srgbClr val="2A1A1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4251960" y="102412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425196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3776472" y="15910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 Parameters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3776472" y="20116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Nombre sommets, densité,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nœud source, supply/demand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5303520" y="1810512"/>
            <a:ext cx="128016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254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5440680" y="960120"/>
            <a:ext cx="1600200" cy="2194560"/>
          </a:xfrm>
          <a:prstGeom prst="roundRect">
            <a:avLst>
              <a:gd fmla="val 4571" name="adj"/>
            </a:avLst>
          </a:prstGeom>
          <a:solidFill>
            <a:srgbClr val="1A1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5989320" y="102412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598932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5513832" y="15910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5513832" y="20116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Graphe coloré + canvas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Matplotlib interactif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7040880" y="1810512"/>
            <a:ext cx="128016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254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7178040" y="960120"/>
            <a:ext cx="1600200" cy="2194560"/>
          </a:xfrm>
          <a:prstGeom prst="roundRect">
            <a:avLst>
              <a:gd fmla="val 4571" name="adj"/>
            </a:avLst>
          </a:prstGeom>
          <a:solidFill>
            <a:srgbClr val="1A2A2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7726680" y="102412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772668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251192" y="15910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Detailed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7251192" y="20116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Sortie texte : étapes, complexité,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interprétation marocaine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320040" y="32735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70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4"/>
          <p:cNvSpPr/>
          <p:nvPr/>
        </p:nvSpPr>
        <p:spPr>
          <a:xfrm>
            <a:off x="667512" y="36941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667512" y="39044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Graph recreated on each click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160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667512" y="41513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real Moroccan sites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67512" y="43616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Authentic database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2" name="Google Shape;4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617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/>
          <p:nvPr/>
        </p:nvSpPr>
        <p:spPr>
          <a:xfrm>
            <a:off x="667512" y="46085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 Matplotlib intégrée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667512" y="48188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Colors, weights, highlighted paths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370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4"/>
          <p:cNvSpPr/>
          <p:nvPr/>
        </p:nvSpPr>
        <p:spPr>
          <a:xfrm>
            <a:off x="4965192" y="36941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Comparative transport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965192" y="39044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NW · LC · MODI side by side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4160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4"/>
          <p:cNvSpPr/>
          <p:nvPr/>
        </p:nvSpPr>
        <p:spPr>
          <a:xfrm>
            <a:off x="4965192" y="41513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Simplex feasible region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965192" y="43616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Polytope plot + optimal point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1" name="Google Shape;4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4617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4"/>
          <p:cNvSpPr/>
          <p:nvPr/>
        </p:nvSpPr>
        <p:spPr>
          <a:xfrm>
            <a:off x="4965192" y="46085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Python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965192" y="48188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Native Tkinter, no web dependency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06 · Results &amp; Impact Socio-Économique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Applied to the southern Moroccan network (n=12 sites, 50% density)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" name="Google Shape;452;p15"/>
          <p:cNvGraphicFramePr/>
          <p:nvPr/>
        </p:nvGraphicFramePr>
        <p:xfrm>
          <a:off x="27432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{5145B0F7-ADF5-4E63-97CC-9ABD8FE567BE}</a:tableStyleId>
              </a:tblPr>
              <a:tblGrid>
                <a:gridCol w="1737350"/>
                <a:gridCol w="3017525"/>
                <a:gridCol w="3840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A6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A6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Solved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A62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Result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Welsh-Powell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assignment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channels sufficient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Kruskal MST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 400 kV HV backbone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1 840 km · −23 %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 MW·km loss route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Ouarzazate → Benguerir → Settat → Casa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Bellman-Ford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HVDC arbitrage validation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negative cycle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Ford-Fulkerson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export capacity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 MW · goulot Benguerir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NW + LC + MODI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Optimal energy allocation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6 400 MAD/MWh (opt.) vs 8 700 NW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Simplexe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Midelt solar/wind mix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 MW sol. + 180 MW éol. = 14,2 M MAD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3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24"/>
                    </a:solidFill>
                  </a:tcPr>
                </a:tc>
              </a:tr>
            </a:tbl>
          </a:graphicData>
        </a:graphic>
      </p:graphicFrame>
      <p:sp>
        <p:nvSpPr>
          <p:cNvPr id="453" name="Google Shape;453;p15"/>
          <p:cNvSpPr/>
          <p:nvPr/>
        </p:nvSpPr>
        <p:spPr>
          <a:xfrm>
            <a:off x="320040" y="3977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Economic &amp; Environmental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292608" y="4370832"/>
            <a:ext cx="1572768" cy="749808"/>
          </a:xfrm>
          <a:prstGeom prst="roundRect">
            <a:avLst>
              <a:gd fmla="val 9756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338328" y="4416552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ambria"/>
                <a:ea typeface="Cambria"/>
                <a:cs typeface="Cambria"/>
                <a:sym typeface="Cambria"/>
              </a:rPr>
              <a:t>1,2 Md MAD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338328" y="473659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Économie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câblage HV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2011680" y="4370832"/>
            <a:ext cx="1572768" cy="749808"/>
          </a:xfrm>
          <a:prstGeom prst="roundRect">
            <a:avLst>
              <a:gd fmla="val 9756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2057400" y="4416552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21 %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2057400" y="473659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Réduction coûts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wheeling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3730752" y="4370832"/>
            <a:ext cx="1572768" cy="749808"/>
          </a:xfrm>
          <a:prstGeom prst="roundRect">
            <a:avLst>
              <a:gd fmla="val 9756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3776472" y="4416552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3498DB"/>
                </a:solidFill>
                <a:latin typeface="Cambria"/>
                <a:ea typeface="Cambria"/>
                <a:cs typeface="Cambria"/>
                <a:sym typeface="Cambria"/>
              </a:rPr>
              <a:t>180 MW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3776472" y="473659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Capacité addtl.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débloquée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5449824" y="4370832"/>
            <a:ext cx="1572768" cy="749808"/>
          </a:xfrm>
          <a:prstGeom prst="roundRect">
            <a:avLst>
              <a:gd fmla="val 9756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5495544" y="4416552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4 000+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5495544" y="473659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Emplois créés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région sud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7168896" y="4370832"/>
            <a:ext cx="1572768" cy="749808"/>
          </a:xfrm>
          <a:prstGeom prst="roundRect">
            <a:avLst>
              <a:gd fmla="val 9756" name="adj"/>
            </a:avLst>
          </a:prstGeom>
          <a:solidFill>
            <a:srgbClr val="1A2340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7214616" y="4416552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ambria"/>
                <a:ea typeface="Cambria"/>
                <a:cs typeface="Cambria"/>
                <a:sym typeface="Cambria"/>
              </a:rPr>
              <a:t>2,1 Mt CO₂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7214616" y="473659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Émissions évitées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/ 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8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Conclusion &amp; Outlook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EMI desktop application — Operations Research applied to the Southern Morocco hybrid network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65760" y="109728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What was accomplished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8" name="Google Shape;4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904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6"/>
          <p:cNvSpPr/>
          <p:nvPr/>
        </p:nvSpPr>
        <p:spPr>
          <a:xfrm>
            <a:off x="713232" y="14904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algorithms implemented from scratch in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0" name="Google Shape;4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928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6"/>
          <p:cNvSpPr/>
          <p:nvPr/>
        </p:nvSpPr>
        <p:spPr>
          <a:xfrm>
            <a:off x="713232" y="1892808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Tkinter interface with real-time visualization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2" name="Google Shape;4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951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6"/>
          <p:cNvSpPr/>
          <p:nvPr/>
        </p:nvSpPr>
        <p:spPr>
          <a:xfrm>
            <a:off x="713232" y="229514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real Moroccan sites dans la base de données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4" name="Google Shape;4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697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6"/>
          <p:cNvSpPr/>
          <p:nvPr/>
        </p:nvSpPr>
        <p:spPr>
          <a:xfrm>
            <a:off x="713232" y="26974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case study: Southern Morocco hybrid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099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6"/>
          <p:cNvSpPr/>
          <p:nvPr/>
        </p:nvSpPr>
        <p:spPr>
          <a:xfrm>
            <a:off x="713232" y="3099816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Comparative tables NW / Least Cost / MODI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8" name="Google Shape;4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5021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6"/>
          <p:cNvSpPr/>
          <p:nvPr/>
        </p:nvSpPr>
        <p:spPr>
          <a:xfrm>
            <a:off x="713232" y="350215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Feasible region and optimal Simplex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846320" y="1078992"/>
            <a:ext cx="4023360" cy="2487168"/>
          </a:xfrm>
          <a:prstGeom prst="roundRect">
            <a:avLst>
              <a:gd fmla="val 2941" name="adj"/>
            </a:avLst>
          </a:prstGeom>
          <a:solidFill>
            <a:srgbClr val="1A1A0A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4983480" y="11430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4983480" y="1554480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5257800" y="152704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Algorithms dynamiques (OPF temps réel)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4983480" y="1956816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5257800" y="19293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Stochastic optimization (intermittent generation)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4983480" y="235915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5257800" y="2331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for demand forecasting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4983480" y="2761488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5257800" y="273405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ONEE API integration (live network data)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4983480" y="3163824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5257800" y="31363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 to distributable .exe application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365760" y="3977640"/>
            <a:ext cx="8412480" cy="960120"/>
          </a:xfrm>
          <a:prstGeom prst="roundRect">
            <a:avLst>
              <a:gd fmla="val 7619" name="adj"/>
            </a:avLst>
          </a:prstGeom>
          <a:solidFill>
            <a:srgbClr val="0D1B35"/>
          </a:solidFill>
          <a:ln cap="flat" cmpd="sng" w="9525">
            <a:solidFill>
              <a:srgbClr val="303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0965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6"/>
          <p:cNvSpPr/>
          <p:nvPr/>
        </p:nvSpPr>
        <p:spPr>
          <a:xfrm>
            <a:off x="1143000" y="4069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Fadlaoui Abd-essamade</a:t>
            </a:r>
            <a:r>
              <a:rPr b="0" i="0" lang="en-US" sz="12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0" lang="en-US" sz="11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Electrical Engineering / Operations Research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5" name="Google Shape;50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4074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6"/>
          <p:cNvSpPr/>
          <p:nvPr/>
        </p:nvSpPr>
        <p:spPr>
          <a:xfrm>
            <a:off x="1508760" y="4443984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0C0"/>
                </a:solidFill>
                <a:latin typeface="Calibri"/>
                <a:ea typeface="Calibri"/>
                <a:cs typeface="Calibri"/>
                <a:sym typeface="Calibri"/>
              </a:rPr>
              <a:t>Mohammadia School of Engineers — EMI Rabat  ·  Supervisor : Dr. EL MKHALET MOUNA  ·  2025-2026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7" name="Google Shape;5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0" y="4114800"/>
            <a:ext cx="32004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